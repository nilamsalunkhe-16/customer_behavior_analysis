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603500"/>
            <a:ext cx="7619809" cy="3709888"/>
          </a:xfrm>
          <a:prstGeom prst="roundRect">
            <a:avLst>
              <a:gd name="adj" fmla="val 822"/>
            </a:avLst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7724" y="3373041"/>
            <a:ext cx="6743531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600" spc="-23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Customer shopping analysis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1047724" y="5485705"/>
            <a:ext cx="6743531" cy="12601"/>
          </a:xfrm>
          <a:prstGeom prst="roundRect">
            <a:avLst>
              <a:gd name="adj" fmla="val 49998"/>
            </a:avLst>
          </a:prstGeom>
          <a:solidFill>
            <a:srgbClr val="57646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dataset is broad enough to reveal behavior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39156"/>
            <a:ext cx="10972526" cy="747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9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3,900 purchase records span products, places, categories, and seasons—with fields to connect customer profiles to each transaction.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3691434"/>
            <a:ext cx="251453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4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3,900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585" y="4491534"/>
            <a:ext cx="274313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purchase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81310" y="3691434"/>
            <a:ext cx="228594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4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18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81310" y="4491534"/>
            <a:ext cx="2514537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columns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4442" y="3691434"/>
            <a:ext cx="228594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4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25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24442" y="4491534"/>
            <a:ext cx="2514537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67573" y="3691434"/>
            <a:ext cx="251453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4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50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067573" y="4491534"/>
            <a:ext cx="2514537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locations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585" y="5008364"/>
            <a:ext cx="533386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Also represented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585" y="5428059"/>
            <a:ext cx="533386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4 categories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· </a:t>
            </a:r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4 seasons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8244" y="5008364"/>
            <a:ext cx="533386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Behavior fields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8244" y="5428059"/>
            <a:ext cx="533386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Customer, purchase, and shopping-behavior attributes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46366" y="3691434"/>
            <a:ext cx="12700" cy="107563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89498" y="3691434"/>
            <a:ext cx="12700" cy="107563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32629" y="3691434"/>
            <a:ext cx="12700" cy="107563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35271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2743131" cy="298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Six preparation steps made the purchase records consistent and ready for analysis.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4344988"/>
            <a:ext cx="2743131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4267093" y="0"/>
            <a:ext cx="7924602" cy="685800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6678" y="609600"/>
          <a:ext cx="9143771" cy="914400"/>
        </p:xfrm>
        <a:graphic>
          <a:graphicData uri="http://schemas.openxmlformats.org/drawingml/2006/table">
            <a:tbl>
              <a:tblPr/>
              <a:tblGrid>
                <a:gridCol w="938761"/>
                <a:gridCol w="5766672"/>
              </a:tblGrid>
              <a:tr h="420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STEP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PREPARATION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6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01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Inspect structure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Review fields and data quality.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6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02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Impute ratings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Fill 37 missing reviews with product-category medians.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6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03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Standardize names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Make column names consistent.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6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04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Engineer fields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Create age and purchase-frequency fields.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6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05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Remove redundancy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Drop the redundant promo-code field.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06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Load for analysis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Move cleaned data into PostgreSQL.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84535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ANALYSIS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266726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analysis moves from transaction detail to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00927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12491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Prepare the records, ask business questions, then bring the results together for review.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4235053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C0C9CF"/>
          </a:solidFill>
          <a:ln/>
        </p:spPr>
      </p:sp>
      <p:sp>
        <p:nvSpPr>
          <p:cNvPr id="7" name="Shape 5"/>
          <p:cNvSpPr/>
          <p:nvPr/>
        </p:nvSpPr>
        <p:spPr>
          <a:xfrm>
            <a:off x="3274931" y="3828653"/>
            <a:ext cx="28574" cy="406400"/>
          </a:xfrm>
          <a:prstGeom prst="roundRect">
            <a:avLst>
              <a:gd name="adj" fmla="val 40000"/>
            </a:avLst>
          </a:prstGeom>
          <a:solidFill>
            <a:srgbClr val="C0C9CF"/>
          </a:solidFill>
          <a:ln/>
        </p:spPr>
      </p:sp>
      <p:sp>
        <p:nvSpPr>
          <p:cNvPr id="8" name="Shape 6"/>
          <p:cNvSpPr/>
          <p:nvPr/>
        </p:nvSpPr>
        <p:spPr>
          <a:xfrm>
            <a:off x="3213020" y="4158853"/>
            <a:ext cx="152396" cy="152400"/>
          </a:xfrm>
          <a:prstGeom prst="ellipse">
            <a:avLst/>
          </a:prstGeom>
          <a:solidFill>
            <a:srgbClr val="3E4B56"/>
          </a:solidFill>
          <a:ln/>
        </p:spPr>
      </p:sp>
      <p:sp>
        <p:nvSpPr>
          <p:cNvPr id="9" name="Text 7"/>
          <p:cNvSpPr/>
          <p:nvPr/>
        </p:nvSpPr>
        <p:spPr>
          <a:xfrm>
            <a:off x="812780" y="2868712"/>
            <a:ext cx="495287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Python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780" y="3310533"/>
            <a:ext cx="495287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Prepare and clean purchase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1560" y="4235053"/>
            <a:ext cx="28574" cy="406400"/>
          </a:xfrm>
          <a:prstGeom prst="roundRect">
            <a:avLst>
              <a:gd name="adj" fmla="val 40000"/>
            </a:avLst>
          </a:prstGeom>
          <a:solidFill>
            <a:srgbClr val="C0C9C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19649" y="4158853"/>
            <a:ext cx="152396" cy="152400"/>
          </a:xfrm>
          <a:prstGeom prst="ellipse">
            <a:avLst/>
          </a:prstGeom>
          <a:solidFill>
            <a:srgbClr val="3E4B56"/>
          </a:solidFill>
          <a:ln/>
        </p:spPr>
      </p:sp>
      <p:sp>
        <p:nvSpPr>
          <p:cNvPr id="13" name="Text 11"/>
          <p:cNvSpPr/>
          <p:nvPr/>
        </p:nvSpPr>
        <p:spPr>
          <a:xfrm>
            <a:off x="3619409" y="4844653"/>
            <a:ext cx="495287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SQL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9409" y="5286474"/>
            <a:ext cx="495287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Query the data to answer business questions.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88190" y="3828653"/>
            <a:ext cx="28574" cy="406400"/>
          </a:xfrm>
          <a:prstGeom prst="roundRect">
            <a:avLst>
              <a:gd name="adj" fmla="val 40000"/>
            </a:avLst>
          </a:prstGeom>
          <a:solidFill>
            <a:srgbClr val="C0C9CF"/>
          </a:solidFill>
          <a:ln/>
        </p:spPr>
      </p:sp>
      <p:sp>
        <p:nvSpPr>
          <p:cNvPr id="16" name="Shape 14"/>
          <p:cNvSpPr/>
          <p:nvPr/>
        </p:nvSpPr>
        <p:spPr>
          <a:xfrm>
            <a:off x="8826279" y="4158853"/>
            <a:ext cx="152396" cy="152400"/>
          </a:xfrm>
          <a:prstGeom prst="ellipse">
            <a:avLst/>
          </a:prstGeom>
          <a:solidFill>
            <a:srgbClr val="3E4B56"/>
          </a:solidFill>
          <a:ln/>
        </p:spPr>
      </p:sp>
      <p:sp>
        <p:nvSpPr>
          <p:cNvPr id="17" name="Text 15"/>
          <p:cNvSpPr/>
          <p:nvPr/>
        </p:nvSpPr>
        <p:spPr>
          <a:xfrm>
            <a:off x="6426039" y="2868712"/>
            <a:ext cx="495287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6039" y="3310533"/>
            <a:ext cx="495287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Present results in a decision-ready dashboard.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PURCHASE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typical purchase is about $60, with a 3.75 rating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700859"/>
            <a:ext cx="2514537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spc="-58" kern="0" dirty="0">
                <a:solidFill>
                  <a:srgbClr val="3E4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$59.76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09585" y="5440759"/>
            <a:ext cx="274313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Average purchase amount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81310" y="3700859"/>
            <a:ext cx="2285943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spc="-5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3.75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581310" y="4704159"/>
            <a:ext cx="251453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Average review rating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2" y="3700859"/>
            <a:ext cx="2285943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spc="-5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44.1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6324442" y="4704159"/>
            <a:ext cx="251453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Average customer 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67573" y="3700859"/>
            <a:ext cx="251453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4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$20–$100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067573" y="5034359"/>
            <a:ext cx="251453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Purchase amount range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46366" y="3700859"/>
            <a:ext cx="12700" cy="205482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89498" y="3700859"/>
            <a:ext cx="12700" cy="205482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32629" y="3700859"/>
            <a:ext cx="12700" cy="205482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spc="114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 PERFORMANCE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66887"/>
            <a:ext cx="10972526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5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Product performance splits between rating and demand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09585" y="170904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36266"/>
            <a:ext cx="10972526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Top-rated products and top-selling products by category are different views of performance; one list should not stand in for the other.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835672"/>
            <a:ext cx="5333867" cy="3551634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3070622"/>
            <a:ext cx="509892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spc="114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HIGHEST-RATED PRODUCTS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529" y="3470771"/>
          <a:ext cx="9143771" cy="914400"/>
        </p:xfrm>
        <a:graphic>
          <a:graphicData uri="http://schemas.openxmlformats.org/drawingml/2006/table">
            <a:tbl>
              <a:tblPr/>
              <a:tblGrid>
                <a:gridCol w="3307505"/>
                <a:gridCol w="1556473"/>
              </a:tblGrid>
              <a:tr h="4024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14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PRODUCT</a:t>
                      </a:r>
                      <a:endParaRPr lang="en-US" sz="11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14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RATING</a:t>
                      </a:r>
                      <a:endParaRPr lang="en-US" sz="11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0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Gloves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3.86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0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Sandals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3.84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0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Boots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3.82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0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Hat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3.80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Skirt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3.78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48244" y="2835672"/>
            <a:ext cx="5333867" cy="3551634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3188" y="3070622"/>
            <a:ext cx="509892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spc="114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TOP-SELLING PRODUCTS BY CATEGORY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83188" y="3470771"/>
            <a:ext cx="4863978" cy="383778"/>
          </a:xfrm>
          <a:prstGeom prst="rect">
            <a:avLst/>
          </a:prstGeom>
          <a:noFill/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89538" y="3477121"/>
            <a:ext cx="4851279" cy="371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Jewelry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83188" y="4006949"/>
            <a:ext cx="4863978" cy="383778"/>
          </a:xfrm>
          <a:prstGeom prst="rect">
            <a:avLst/>
          </a:prstGeom>
          <a:noFill/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89538" y="4013299"/>
            <a:ext cx="4851279" cy="371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Blouse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83188" y="4543127"/>
            <a:ext cx="4863978" cy="383778"/>
          </a:xfrm>
          <a:prstGeom prst="rect">
            <a:avLst/>
          </a:prstGeom>
          <a:noFill/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9538" y="4549477"/>
            <a:ext cx="4851279" cy="371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Sandals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483188" y="5079305"/>
            <a:ext cx="4863978" cy="383778"/>
          </a:xfrm>
          <a:prstGeom prst="rect">
            <a:avLst/>
          </a:prstGeom>
          <a:noFill/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9538" y="5085655"/>
            <a:ext cx="4851279" cy="371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Jacket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83188" y="5603081"/>
            <a:ext cx="5098922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spc="25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Demand leaders named in the analysis.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09585" y="6604496"/>
            <a:ext cx="1158211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spc="25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Source: Customer shopping behavior analysis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362148" y="6450509"/>
            <a:ext cx="82954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8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50280"/>
            <a:ext cx="408423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SHIPPING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32471"/>
            <a:ext cx="3474653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Express shipping adds a small spend lift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3479105"/>
            <a:ext cx="3474554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833118"/>
            <a:ext cx="3474653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Average purchase amount is modestly higher for Express than Standard shipping. Treat speed as a testable merchandising or service lever—not a proven driver of spend.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97" y="1396405"/>
            <a:ext cx="5460863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497" y="4933355"/>
            <a:ext cx="582161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Average purchase amount in dollars. Source: Customer shopping behavior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SUBSCRIPTION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Subscriptions have reach, but not a higher average basket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3915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Subscribers make up a sizable group, but their average spend is slightly lower. Non-subscribers contribute more total revenue alongside their larger headcount.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370189"/>
          <a:ext cx="9143771" cy="914400"/>
        </p:xfrm>
        <a:graphic>
          <a:graphicData uri="http://schemas.openxmlformats.org/drawingml/2006/table">
            <a:tbl>
              <a:tblPr/>
              <a:tblGrid>
                <a:gridCol w="3072307"/>
                <a:gridCol w="2633406"/>
                <a:gridCol w="2633406"/>
                <a:gridCol w="2633406"/>
              </a:tblGrid>
              <a:tr h="420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SEGMENT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CUSTOMERS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AVG. SPEND ($)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REVENUE ($)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Subscribers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1,053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59.49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62,645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Non-subscribers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2,847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59.87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170,436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984280"/>
            <a:ext cx="1158211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Source: Customer shopping behavior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0" spc="87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DISCOUNT USE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65584"/>
            <a:ext cx="10972526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200" spc="-11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Discount dependence is concentrated in five products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585" y="1402060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627981"/>
            <a:ext cx="1097252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15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Discounted purchases are most common for these five products. The concentration raises a margin-control question: where can discounting be reduced without weakening demand?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49872"/>
            <a:ext cx="7968257" cy="44645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671270"/>
            <a:ext cx="1158211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spc="19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Discounted-purchase rate. Source: Customer shopping behavior analysis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413740" y="6474619"/>
            <a:ext cx="77795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spc="144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438301"/>
            <a:ext cx="2072628" cy="3810099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4529" y="2673251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4529" y="3206651"/>
            <a:ext cx="160274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Protect margin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4529" y="3720306"/>
            <a:ext cx="1602740" cy="137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Test lower discounts on Hat, Sneakers, Coat, Sweater, and Pants; monitor demand.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510" y="2438301"/>
            <a:ext cx="2072628" cy="3810099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9454" y="2673251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069454" y="3206651"/>
            <a:ext cx="160274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Match product to demand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69454" y="4040287"/>
            <a:ext cx="1602740" cy="137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both purchase volume and ratings to guide assortment and product priorities.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59434" y="2438301"/>
            <a:ext cx="2072727" cy="3810099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8" y="2673251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294378" y="3206651"/>
            <a:ext cx="160283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Refine shipping offers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94378" y="4040287"/>
            <a:ext cx="1602839" cy="137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Treat express shipping’s small spend lift as a test, not a proven broad growth lever.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84458" y="2438301"/>
            <a:ext cx="2072628" cy="3810099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9403" y="2673251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519403" y="3206651"/>
            <a:ext cx="160274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 subscription value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19403" y="4360267"/>
            <a:ext cx="1602740" cy="1653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Focus on retention and convenience; subscription status alone does not raise average spend.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383" y="2438301"/>
            <a:ext cx="2072727" cy="3810099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4327" y="2673251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744327" y="3206651"/>
            <a:ext cx="160283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Anchor on customer value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44327" y="4040287"/>
            <a:ext cx="1602839" cy="1653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the roughly $60 typical purchase and 3.75 rating as baselines; measure changes against them.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2026-09-25T19:17:45Z</dcterms:created>
  <dcterms:modified xsi:type="dcterms:W3CDTF">2026-09-25T19:17:45Z</dcterms:modified>
</cp:coreProperties>
</file>